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2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37475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37475A">
              <a:alpha val="45000"/>
            </a:srgbClr>
          </a:solidFill>
          <a:ln/>
        </p:spPr>
      </p:sp>
      <p:pic>
        <p:nvPicPr>
          <p:cNvPr id="4" name="Image 0" descr="icons/cloud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21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AICTE–EDUSKILLS VIRTUAL INTERNSHIP  •  AWS ACADEMY CURRICULUM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Virtual Internship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8-Week Hands-On Journey into AWS Cloud Computing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4160520"/>
            <a:ext cx="29260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Sahai Kamthan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|  Section 3CSE19  |  Roll No. 2410031548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April – June 2026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966960" y="4206240"/>
            <a:ext cx="1554480" cy="15544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1"/>
          <p:cNvSpPr/>
          <p:nvPr/>
        </p:nvSpPr>
        <p:spPr>
          <a:xfrm>
            <a:off x="9966960" y="4343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9966960" y="5074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6072" y="960120"/>
            <a:ext cx="54864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rapid adoption of cloud computing created a strong demand for professionals skilled in cloud architecture and deployment. To bridge the gap between academia and industry, AICTE — with the Ministry of Education's National Internship Portal and EduSkills — launched this Virtual Internship Program. Over 8 weeks, the curriculum, provided by AWS Academy, delivered hands-on exposure to AWS fundamentals, core services, and best practices for secure, scalable, cost-efficient cloud solutions.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By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232F3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4480" y="3520440"/>
            <a:ext cx="640080" cy="64008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8" name="Image 0" descr="icons/bank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3657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42976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" y="47548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body under the Ministry of Education overseeing technical education nationwide.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29000" y="32461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232F3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3520440"/>
            <a:ext cx="640080" cy="64008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3" name="Image 1" descr="icons/network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8728" y="42976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93592" y="47548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students with internships offered by industry and academic partners.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309360" y="32461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232F3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0" y="3520440"/>
            <a:ext cx="640080" cy="64008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8" name="Image 2" descr="icons/hand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6576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42976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73952" y="47548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industry-aligned virtual internships — "Nation Building Through Skills."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189720" y="32461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232F3E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195560" y="3520440"/>
            <a:ext cx="640080" cy="64008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23" name="Image 3" descr="icons/cloud_FF9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36576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99448" y="42976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354312" y="47548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global education program providing free, ready-to-teach cloud curriculum.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Virtual Internship  |  Abhinav Sahai Kamthan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6072" y="960120"/>
            <a:ext cx="54864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4937760" cy="5074920"/>
          </a:xfrm>
          <a:prstGeom prst="roundRect">
            <a:avLst>
              <a:gd name="adj" fmla="val 1481"/>
            </a:avLst>
          </a:prstGeom>
          <a:solidFill>
            <a:srgbClr val="232F3E"/>
          </a:solidFill>
          <a:ln/>
        </p:spPr>
      </p:sp>
      <p:pic>
        <p:nvPicPr>
          <p:cNvPr id="5" name="Image 0" descr="icons/target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361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Internship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14884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CS curricula often lag behind fast-evolving cloud technologies. Students graduate with strong theory but limited exposure to real-world platforms. A structured, hands-on program was needed to build practical experience in provisioning, configuring, and managing cloud resources — preparing students for roles in cloud engineering, DevOps, and infrastructure management.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4251960"/>
            <a:ext cx="3749040" cy="0"/>
          </a:xfrm>
          <a:prstGeom prst="line">
            <a:avLst/>
          </a:prstGeom>
          <a:noFill/>
          <a:ln w="12700">
            <a:solidFill>
              <a:srgbClr val="3747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7091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Foundations &amp; Cloud Architecting curriculum, delivered through guided labs, quizzes, and a capstone-style exercise in a sandboxed AWS environment — no production deployment.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6072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60720" y="1828800"/>
            <a:ext cx="384048" cy="38404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0"/>
          <p:cNvSpPr/>
          <p:nvPr/>
        </p:nvSpPr>
        <p:spPr>
          <a:xfrm>
            <a:off x="57607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09360" y="177393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core cloud concepts — deployment models and IaaS/PaaS/SaaS.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60720" y="2724912"/>
            <a:ext cx="384048" cy="38404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3"/>
          <p:cNvSpPr/>
          <p:nvPr/>
        </p:nvSpPr>
        <p:spPr>
          <a:xfrm>
            <a:off x="576072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09360" y="267004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with EC2, S3, IAM, VPC, RDS, and Lambda.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760720" y="3621024"/>
            <a:ext cx="384048" cy="38404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9" name="Text 16"/>
          <p:cNvSpPr/>
          <p:nvPr/>
        </p:nvSpPr>
        <p:spPr>
          <a:xfrm>
            <a:off x="576072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09360" y="35661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cloud architecture principles: scalability, availability, security, cost.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760720" y="4517136"/>
            <a:ext cx="384048" cy="38404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76072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09360" y="446227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deploy a sample cloud-based solution using AWS services.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760720" y="5413248"/>
            <a:ext cx="384048" cy="38404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Text 22"/>
          <p:cNvSpPr/>
          <p:nvPr/>
        </p:nvSpPr>
        <p:spPr>
          <a:xfrm>
            <a:off x="5760720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309360" y="5358384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industry-aligned skills and earn a recognized certification.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Virtual Internship  |  Abhinav Sahai Kamthan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6072" y="960120"/>
            <a:ext cx="54864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AWS services studied and used through hands-on labs during the internship.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9052" y="1984248"/>
            <a:ext cx="585216" cy="585216"/>
          </a:xfrm>
          <a:prstGeom prst="ellipse">
            <a:avLst/>
          </a:prstGeom>
          <a:solidFill>
            <a:srgbClr val="37475A"/>
          </a:solidFill>
          <a:ln/>
        </p:spPr>
      </p:sp>
      <p:pic>
        <p:nvPicPr>
          <p:cNvPr id="7" name="Image 0" descr="icons/server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211226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79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30632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virtual servers / compute instances.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55848" y="178308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66260" y="1984248"/>
            <a:ext cx="585216" cy="585216"/>
          </a:xfrm>
          <a:prstGeom prst="ellipse">
            <a:avLst/>
          </a:prstGeom>
          <a:solidFill>
            <a:srgbClr val="37475A"/>
          </a:solidFill>
          <a:ln/>
        </p:spPr>
      </p:sp>
      <p:pic>
        <p:nvPicPr>
          <p:cNvPr id="12" name="Image 1" descr="icons/database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211226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47288" y="2679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93008" y="30632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&amp; static content hosting.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63056" y="178308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73468" y="1984248"/>
            <a:ext cx="585216" cy="585216"/>
          </a:xfrm>
          <a:prstGeom prst="ellipse">
            <a:avLst/>
          </a:prstGeom>
          <a:solidFill>
            <a:srgbClr val="37475A"/>
          </a:solidFill>
          <a:ln/>
        </p:spPr>
      </p:sp>
      <p:pic>
        <p:nvPicPr>
          <p:cNvPr id="17" name="Image 2" descr="icons/lock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84" y="211226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4496" y="2679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00216" y="30632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user, role &amp; permission management.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970264" y="178308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80676" y="1984248"/>
            <a:ext cx="585216" cy="585216"/>
          </a:xfrm>
          <a:prstGeom prst="ellipse">
            <a:avLst/>
          </a:prstGeom>
          <a:solidFill>
            <a:srgbClr val="37475A"/>
          </a:solidFill>
          <a:ln/>
        </p:spPr>
      </p:sp>
      <p:pic>
        <p:nvPicPr>
          <p:cNvPr id="22" name="Image 3" descr="icons/network_FF9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692" y="2112264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61704" y="2679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VPC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107424" y="30632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Isolated, secure network environments.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420624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559052" y="4407408"/>
            <a:ext cx="585216" cy="585216"/>
          </a:xfrm>
          <a:prstGeom prst="ellipse">
            <a:avLst/>
          </a:prstGeom>
          <a:solidFill>
            <a:srgbClr val="37475A"/>
          </a:solidFill>
          <a:ln/>
        </p:spPr>
      </p:sp>
      <p:pic>
        <p:nvPicPr>
          <p:cNvPr id="27" name="Image 4" descr="icons/database_FF99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068" y="4535424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0080" y="51023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85800" y="5486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database deployment.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355848" y="420624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366260" y="4407408"/>
            <a:ext cx="585216" cy="585216"/>
          </a:xfrm>
          <a:prstGeom prst="ellipse">
            <a:avLst/>
          </a:prstGeom>
          <a:solidFill>
            <a:srgbClr val="37475A"/>
          </a:solidFill>
          <a:ln/>
        </p:spPr>
      </p:sp>
      <p:pic>
        <p:nvPicPr>
          <p:cNvPr id="32" name="Image 5" descr="icons/bolt_FF990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4276" y="4535424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447288" y="51023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493008" y="5486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event-driven computing.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163056" y="420624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173468" y="4407408"/>
            <a:ext cx="585216" cy="585216"/>
          </a:xfrm>
          <a:prstGeom prst="ellipse">
            <a:avLst/>
          </a:prstGeom>
          <a:solidFill>
            <a:srgbClr val="37475A"/>
          </a:solidFill>
          <a:ln/>
        </p:spPr>
      </p:sp>
      <p:pic>
        <p:nvPicPr>
          <p:cNvPr id="37" name="Image 6" descr="icons/chart_FF990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1484" y="4535424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254496" y="51023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300216" y="5486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&amp; application performance monitoring.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970264" y="420624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980676" y="4407408"/>
            <a:ext cx="585216" cy="585216"/>
          </a:xfrm>
          <a:prstGeom prst="ellipse">
            <a:avLst/>
          </a:prstGeom>
          <a:solidFill>
            <a:srgbClr val="37475A"/>
          </a:solidFill>
          <a:ln/>
        </p:spPr>
      </p:sp>
      <p:pic>
        <p:nvPicPr>
          <p:cNvPr id="42" name="Image 7" descr="icons/laptop_FF990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8692" y="4535424"/>
            <a:ext cx="329184" cy="32918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061704" y="51023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&amp; CLI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9107424" y="5486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&amp; managing cloud resources.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Virtual Internship  |  Abhinav Sahai Kamthan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6072" y="960120"/>
            <a:ext cx="54864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7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AWS architecture reflecting the AWS Well-Architected Framework principles.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37475A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822960" cy="896112"/>
          </a:xfrm>
          <a:prstGeom prst="roundRect">
            <a:avLst>
              <a:gd name="adj" fmla="val 6667"/>
            </a:avLst>
          </a:prstGeom>
          <a:solidFill>
            <a:srgbClr val="FF9900"/>
          </a:solidFill>
          <a:ln/>
        </p:spPr>
      </p:sp>
      <p:pic>
        <p:nvPicPr>
          <p:cNvPr id="7" name="Image 0" descr="icons/network_232F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1226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2880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06240" y="1828800"/>
            <a:ext cx="7132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with public &amp; private subnets across multiple Availability Zones for fault tolerance.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779776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37475A">
              <a:alpha val="7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2779776"/>
            <a:ext cx="822960" cy="896112"/>
          </a:xfrm>
          <a:prstGeom prst="roundRect">
            <a:avLst>
              <a:gd name="adj" fmla="val 6667"/>
            </a:avLst>
          </a:prstGeom>
          <a:solidFill>
            <a:srgbClr val="FF9900"/>
          </a:solidFill>
          <a:ln/>
        </p:spPr>
      </p:sp>
      <p:pic>
        <p:nvPicPr>
          <p:cNvPr id="12" name="Image 1" descr="icons/server_232F3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0632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779776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Layer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206240" y="2779776"/>
            <a:ext cx="7132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 behind an Elastic Load Balancer, scaled via Auto Scaling Groups.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730752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37475A">
              <a:alpha val="75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" y="3730752"/>
            <a:ext cx="822960" cy="896112"/>
          </a:xfrm>
          <a:prstGeom prst="roundRect">
            <a:avLst>
              <a:gd name="adj" fmla="val 6667"/>
            </a:avLst>
          </a:prstGeom>
          <a:solidFill>
            <a:srgbClr val="FF9900"/>
          </a:solidFill>
          <a:ln/>
        </p:spPr>
      </p:sp>
      <p:pic>
        <p:nvPicPr>
          <p:cNvPr id="17" name="Image 2" descr="icons/database_232F3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01421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730752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206240" y="3730752"/>
            <a:ext cx="7132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for static assets; Amazon RDS for structured, relational data.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681728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37475A">
              <a:alpha val="75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" y="4681728"/>
            <a:ext cx="822960" cy="896112"/>
          </a:xfrm>
          <a:prstGeom prst="roundRect">
            <a:avLst>
              <a:gd name="adj" fmla="val 6667"/>
            </a:avLst>
          </a:prstGeom>
          <a:solidFill>
            <a:srgbClr val="FF9900"/>
          </a:solidFill>
          <a:ln/>
        </p:spPr>
      </p:sp>
      <p:pic>
        <p:nvPicPr>
          <p:cNvPr id="22" name="Image 3" descr="icons/shield_232F3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96519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468172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206240" y="4681728"/>
            <a:ext cx="7132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&amp; policies, security groups, and network ACLs enforced at every layer.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5632704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37475A">
              <a:alpha val="75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640080" y="5632704"/>
            <a:ext cx="822960" cy="896112"/>
          </a:xfrm>
          <a:prstGeom prst="roundRect">
            <a:avLst>
              <a:gd name="adj" fmla="val 6667"/>
            </a:avLst>
          </a:prstGeom>
          <a:solidFill>
            <a:srgbClr val="FF9900"/>
          </a:solidFill>
          <a:ln/>
        </p:spPr>
      </p:sp>
      <p:pic>
        <p:nvPicPr>
          <p:cNvPr id="27" name="Image 4" descr="icons/chart_232F3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91616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632704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Layer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206240" y="5632704"/>
            <a:ext cx="7132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 tracks utilization and triggers threshold-based alerts.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Virtual Internship  |  Abhinav Sahai Kamthan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6072" y="960120"/>
            <a:ext cx="54864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six-phase, week-by-week progression across the 8-week program.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67128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67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&amp; Onboarding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8346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program, AWS Academy platform, and course structure.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2167128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2167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0288" y="28346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concepts, core services, security, networking, databases &amp; best practices.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2167128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15400" y="2167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9328" y="28346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labs on the AWS Console within a sandbox environment.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453128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453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&amp; Quizzes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51206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module-wise quizzes testing conceptual understanding.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42519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0288" y="4453128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7" name="Text 25"/>
          <p:cNvSpPr/>
          <p:nvPr/>
        </p:nvSpPr>
        <p:spPr>
          <a:xfrm>
            <a:off x="4590288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4453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Exercise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90288" y="51206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multiple AWS services into a small-scale cloud solution.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2519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63500" dist="25400" dir="5400000">
              <a:srgbClr val="232F3E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9328" y="4453128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32" name="Text 30"/>
          <p:cNvSpPr/>
          <p:nvPr/>
        </p:nvSpPr>
        <p:spPr>
          <a:xfrm>
            <a:off x="8339328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15400" y="4453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Certification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9328" y="51206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across modules, labs &amp; assessments — grade and certificate awarded.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Virtual Internship  |  Abhinav Sahai Kamthan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6072" y="960120"/>
            <a:ext cx="54864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32F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1016" y="2057400"/>
            <a:ext cx="640080" cy="64008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6" name="Image 0" descr="icons/cloud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8803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Fundamentals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4944" y="347472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conceptual understanding of cloud computing and the AWS ecosystem.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16352" y="173736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32F3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8728" y="2057400"/>
            <a:ext cx="640080" cy="64008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1" name="Image 1" descr="icons/gears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194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6080" y="28803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Skills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62656" y="347472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provisioning and managing core AWS services.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84064" y="173736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32F3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06440" y="2057400"/>
            <a:ext cx="640080" cy="64008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6" name="Image 2" descr="icons/network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94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93792" y="28803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Ability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230368" y="347472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design basic, secure, and scalable cloud architectures.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51776" y="173736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32F3E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74152" y="2057400"/>
            <a:ext cx="640080" cy="64008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21" name="Image 3" descr="icons/grad_FF9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2194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1504" y="28803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Employability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0" y="347472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employability through an industry-recognized certification.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19488" y="173736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32F3E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41864" y="2057400"/>
            <a:ext cx="640080" cy="64008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26" name="Image 4" descr="icons/cert_FF99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9024" y="21945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29216" y="28803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Pathway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765792" y="347472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AWS Certified Cloud Practitioner / Solutions Architect.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Virtual Internship  |  Abhinav Sahai Kamthan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37475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" y="1188720"/>
            <a:ext cx="54864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of Virtual Internship, issued by AICTE, the Ministry of Education, the National Internship Portal, and EduSkills, confirms successful completion of the 8-week Cloud Virtual Internship with curriculum provided by AWS Academy.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456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42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4e928ed5d4f6514b118f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828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STU6998634f476331771594575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1554480"/>
            <a:ext cx="4023360" cy="40233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99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1965960"/>
            <a:ext cx="3200400" cy="32004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214884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78181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06640" y="5715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7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Awarded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Virtual Internship  |  Abhinav Sahai Kamthan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pic>
        <p:nvPicPr>
          <p:cNvPr id="4" name="Image 0" descr="icons/cloud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4114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Gratitude to AICTE, the Ministry of Education, the National Internship Portal, and EduSkills for the opportunity to undertake this virtual internship — and to AWS Academy for the curriculum that made it possible. Thanks also to the School of Computer Science and Engineering, IILM University, Greater Noida, for continuous support and encouragement.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4133088"/>
            <a:ext cx="73152" cy="7315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4069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Cloud Foundations — aws.amazon.com/training/awsacademy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4480560"/>
            <a:ext cx="73152" cy="7315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416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 Documentation — docs.aws.amazon.com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" y="4828032"/>
            <a:ext cx="73152" cy="7315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76402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Internship Portal — internship.aicte-india.org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" y="5175504"/>
            <a:ext cx="73152" cy="7315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51114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Foundation — eduskillsfoundation.org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" y="5522976"/>
            <a:ext cx="73152" cy="7315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545896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Well-Architected Framework — aws.amazon.com/architecture/well-architected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6309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Sahai Kamthan  |  B.Tech CSE, 3CSE19  |  IILM University, Greater Noida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2026-08-31T04:10:11Z</dcterms:created>
  <dcterms:modified xsi:type="dcterms:W3CDTF">2026-08-31T04:10:11Z</dcterms:modified>
</cp:coreProperties>
</file>